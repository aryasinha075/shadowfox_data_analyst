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8273A"/>
                </a:solidFill>
              </a:rPr>
              <a:t>Monthly Sales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495420.37</c:v>
                </c:pt>
                <c:pt idx="1">
                  <c:v>368919.36</c:v>
                </c:pt>
                <c:pt idx="2">
                  <c:v>402638.77</c:v>
                </c:pt>
                <c:pt idx="3">
                  <c:v>438992.61</c:v>
                </c:pt>
                <c:pt idx="4">
                  <c:v>389078.76</c:v>
                </c:pt>
                <c:pt idx="5">
                  <c:v>418458.34</c:v>
                </c:pt>
                <c:pt idx="6">
                  <c:v>374242.88</c:v>
                </c:pt>
                <c:pt idx="7">
                  <c:v>443171.28</c:v>
                </c:pt>
                <c:pt idx="8">
                  <c:v>367837.6</c:v>
                </c:pt>
                <c:pt idx="9">
                  <c:v>460378.78</c:v>
                </c:pt>
                <c:pt idx="10">
                  <c:v>467482.9</c:v>
                </c:pt>
                <c:pt idx="11">
                  <c:v>392643.58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05-46E8-899E-5BD7858A28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8273A"/>
                </a:solidFill>
              </a:rPr>
              <a:t>Sales by Product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Furniture</c:v>
                </c:pt>
                <c:pt idx="2">
                  <c:v>Clothing</c:v>
                </c:pt>
                <c:pt idx="3">
                  <c:v>Food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1243499.6399999999</c:v>
                </c:pt>
                <c:pt idx="1">
                  <c:v>1260517.69</c:v>
                </c:pt>
                <c:pt idx="2">
                  <c:v>1313474.3600000001</c:v>
                </c:pt>
                <c:pt idx="3">
                  <c:v>1201773.54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7B-40D4-9293-B99C1A4FB6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8273A"/>
                </a:solidFill>
              </a:rPr>
              <a:t>Regional Sales Performance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1259792.93</c:v>
                </c:pt>
                <c:pt idx="1">
                  <c:v>1235608.93</c:v>
                </c:pt>
                <c:pt idx="2">
                  <c:v>1369612.51</c:v>
                </c:pt>
                <c:pt idx="3">
                  <c:v>1154250.8600000001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92-491A-82DB-48B8BF8BF1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8273A"/>
                </a:solidFill>
              </a:rPr>
              <a:t>Sales Representative Performance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Alice</c:v>
                </c:pt>
                <c:pt idx="1">
                  <c:v>Bob</c:v>
                </c:pt>
                <c:pt idx="2">
                  <c:v>Charlie</c:v>
                </c:pt>
                <c:pt idx="3">
                  <c:v>David</c:v>
                </c:pt>
                <c:pt idx="4">
                  <c:v>Eve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965541.77</c:v>
                </c:pt>
                <c:pt idx="1">
                  <c:v>1080990.6299999999</c:v>
                </c:pt>
                <c:pt idx="2">
                  <c:v>860811.48</c:v>
                </c:pt>
                <c:pt idx="3">
                  <c:v>1141737.3600000001</c:v>
                </c:pt>
                <c:pt idx="4">
                  <c:v>970183.99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4C-4B25-8CBD-93F2F51C3F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8273A"/>
                </a:solidFill>
              </a:rPr>
              <a:t>Top 10 Products by Sales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1099</c:v>
                </c:pt>
                <c:pt idx="1">
                  <c:v>1092</c:v>
                </c:pt>
                <c:pt idx="2">
                  <c:v>1033</c:v>
                </c:pt>
                <c:pt idx="3">
                  <c:v>1090</c:v>
                </c:pt>
                <c:pt idx="4">
                  <c:v>1086</c:v>
                </c:pt>
                <c:pt idx="5">
                  <c:v>1089</c:v>
                </c:pt>
                <c:pt idx="6">
                  <c:v>1048</c:v>
                </c:pt>
                <c:pt idx="7">
                  <c:v>1001</c:v>
                </c:pt>
                <c:pt idx="8">
                  <c:v>1062</c:v>
                </c:pt>
                <c:pt idx="9">
                  <c:v>1024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101773.87</c:v>
                </c:pt>
                <c:pt idx="1">
                  <c:v>90615.62</c:v>
                </c:pt>
                <c:pt idx="2">
                  <c:v>89130.41</c:v>
                </c:pt>
                <c:pt idx="3">
                  <c:v>88043.25</c:v>
                </c:pt>
                <c:pt idx="4">
                  <c:v>82269.710000000006</c:v>
                </c:pt>
                <c:pt idx="5">
                  <c:v>82055.13</c:v>
                </c:pt>
                <c:pt idx="6">
                  <c:v>81496.820000000007</c:v>
                </c:pt>
                <c:pt idx="7">
                  <c:v>81017.34</c:v>
                </c:pt>
                <c:pt idx="8">
                  <c:v>76696.759999999995</c:v>
                </c:pt>
                <c:pt idx="9">
                  <c:v>75136.67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CA-4758-89A0-D74C43FFC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8273A"/>
                </a:solidFill>
              </a:rPr>
              <a:t>Sales by Customer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New</c:v>
                </c:pt>
                <c:pt idx="1">
                  <c:v>Returning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2506258.2999999998</c:v>
                </c:pt>
                <c:pt idx="1">
                  <c:v>2513006.9300000002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B-491C-9E52-2739F50A7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8273A"/>
                </a:solidFill>
              </a:rPr>
              <a:t>Sales by Sales Channel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Online</c:v>
                </c:pt>
                <c:pt idx="1">
                  <c:v>Retail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2458833.9300000002</c:v>
                </c:pt>
                <c:pt idx="1">
                  <c:v>2560431.2999999998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FE-43D3-9F8E-37E77FA534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7772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SALES ANALYSIS
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3657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D5E0EA"/>
                </a:solidFill>
                <a:latin typeface="Aptos"/>
              </a:rPr>
              <a:t>Beginner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By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: ARYA SINHA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30368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6D5E1"/>
                </a:solidFill>
                <a:latin typeface="Aptos"/>
              </a:rPr>
              <a:t>Data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50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C6D6"/>
                </a:solidFill>
                <a:latin typeface="Aptos"/>
              </a:rPr>
              <a:t>ShadowFox Internship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9829800" y="0"/>
            <a:ext cx="2359152" cy="6858000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40112" y="24231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SALES
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DEC7B1-D9C4-2825-3507-1CC70F26F537}"/>
              </a:ext>
            </a:extLst>
          </p:cNvPr>
          <p:cNvSpPr txBox="1"/>
          <p:nvPr/>
        </p:nvSpPr>
        <p:spPr>
          <a:xfrm>
            <a:off x="731520" y="6045184"/>
            <a:ext cx="618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https://github.com/AryaSinha075/ShadowFox_data_analyst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343F"/>
                </a:solidFill>
                <a:latin typeface="Aptos"/>
              </a:rPr>
              <a:t>1. Acknowledgement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585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343F"/>
                </a:solidFill>
                <a:latin typeface="Aptos"/>
              </a:rPr>
              <a:t>2. Beginner Level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998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343F"/>
                </a:solidFill>
                <a:latin typeface="Aptos"/>
              </a:rPr>
              <a:t>3. Dataset &amp; 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410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343F"/>
                </a:solidFill>
                <a:latin typeface="Aptos"/>
              </a:rPr>
              <a:t>4. Key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82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343F"/>
                </a:solidFill>
                <a:latin typeface="Aptos"/>
              </a:rPr>
              <a:t>5. Monthly Sales 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343F"/>
                </a:solidFill>
                <a:latin typeface="Aptos"/>
              </a:rPr>
              <a:t>6. Category &amp; Regional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343F"/>
                </a:solidFill>
                <a:latin typeface="Aptos"/>
              </a:rPr>
              <a:t>7. Sales Representative &amp; Product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998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343F"/>
                </a:solidFill>
                <a:latin typeface="Aptos"/>
              </a:rPr>
              <a:t>8. Customer Type &amp; Sales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410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343F"/>
                </a:solidFill>
                <a:latin typeface="Aptos"/>
              </a:rPr>
              <a:t>9. Dashboard &amp; Business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82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343F"/>
                </a:solidFill>
                <a:latin typeface="Aptos"/>
              </a:rPr>
              <a:t>10.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ACKNOWLEDGEMENT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343F"/>
                </a:solidFill>
                <a:latin typeface="Aptos"/>
              </a:rPr>
              <a:t>I would like to express my gratitude to ShadowFox for providing the opportunity to complete this Data Analyst internship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343F"/>
                </a:solidFill>
                <a:latin typeface="Aptos"/>
              </a:rPr>
              <a:t>I am thankful for the opportunity to work on a practical sales dataset and apply spreadsheet-based data cleaning, analysis and visualization techniques.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8273A"/>
                </a:solidFill>
                <a:latin typeface="Aptos"/>
              </a:rPr>
              <a:t>The project was completed using Excel with a focus on clear analysis and business-oriented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BEGINNER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8273A"/>
                </a:solidFill>
                <a:latin typeface="Aptos"/>
              </a:rPr>
              <a:t>Task: Sales Data Analysis and Spreadsheet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058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343F"/>
                </a:solidFill>
                <a:latin typeface="Aptos"/>
              </a:defRPr>
            </a:pPr>
            <a:r>
              <a:t>Clean and organize the provided sales dataset.</a:t>
            </a:r>
          </a:p>
          <a:p>
            <a:pPr>
              <a:spcAft>
                <a:spcPts val="1000"/>
              </a:spcAft>
              <a:defRPr sz="1700">
                <a:solidFill>
                  <a:srgbClr val="2B343F"/>
                </a:solidFill>
                <a:latin typeface="Aptos"/>
              </a:defRPr>
            </a:pPr>
            <a:r>
              <a:t>Calculate key summary metrics for sales performance.</a:t>
            </a:r>
          </a:p>
          <a:p>
            <a:pPr>
              <a:spcAft>
                <a:spcPts val="1000"/>
              </a:spcAft>
              <a:defRPr sz="1700">
                <a:solidFill>
                  <a:srgbClr val="2B343F"/>
                </a:solidFill>
                <a:latin typeface="Aptos"/>
              </a:defRPr>
            </a:pPr>
            <a:r>
              <a:t>Analyze monthly, category, regional and sales representative performance.</a:t>
            </a:r>
          </a:p>
          <a:p>
            <a:pPr>
              <a:spcAft>
                <a:spcPts val="1000"/>
              </a:spcAft>
              <a:defRPr sz="1700">
                <a:solidFill>
                  <a:srgbClr val="2B343F"/>
                </a:solidFill>
                <a:latin typeface="Aptos"/>
              </a:defRPr>
            </a:pPr>
            <a:r>
              <a:t>Identify top-performing products and compare customer types and sales channels.</a:t>
            </a:r>
          </a:p>
          <a:p>
            <a:pPr>
              <a:spcAft>
                <a:spcPts val="1000"/>
              </a:spcAft>
              <a:defRPr sz="1700">
                <a:solidFill>
                  <a:srgbClr val="2B343F"/>
                </a:solidFill>
                <a:latin typeface="Aptos"/>
              </a:defRPr>
            </a:pPr>
            <a:r>
              <a:t>Create charts and a simple dashboard to communicate the findings.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DATASET &amp; DATA CLEANING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273A"/>
                </a:solidFill>
                <a:latin typeface="Aptos"/>
              </a:rPr>
              <a:t>Dataset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Raw_Data — original dataset retained.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Cleaned_Data — validated dataset used for analysis.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Analysis — formulas, summaries, charts and insights.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Dashboard — final visual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273A"/>
                </a:solidFill>
                <a:latin typeface="Aptos"/>
              </a:rPr>
              <a:t>Cleaning / validation performed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4983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Checked Sale_Date for blank values.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Checked Sales_Rep entries.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Removed duplicate records using all columns.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Validated quantity and price-related values.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Checked Discount values; observed range was 0%–30%.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1545336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7727F"/>
                </a:solidFill>
                <a:latin typeface="Aptos"/>
              </a:rPr>
              <a:t>TOTAL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892808"/>
            <a:ext cx="22219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273A"/>
                </a:solidFill>
                <a:latin typeface="Aptos"/>
              </a:rPr>
              <a:t>₹5,019,265.23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83864" y="1545336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7727F"/>
                </a:solidFill>
                <a:latin typeface="Aptos"/>
              </a:rPr>
              <a:t>TOTAL QUANTITY SOLD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1892808"/>
            <a:ext cx="22219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273A"/>
                </a:solidFill>
                <a:latin typeface="Aptos"/>
              </a:rPr>
              <a:t>25,355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4173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35624" y="1545336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7727F"/>
                </a:solidFill>
                <a:latin typeface="Aptos"/>
              </a:rPr>
              <a:t>AVERAGE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624" y="1892808"/>
            <a:ext cx="22219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273A"/>
                </a:solidFill>
                <a:latin typeface="Aptos"/>
              </a:rPr>
              <a:t>₹5,019.27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4173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87384" y="1545336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7727F"/>
                </a:solidFill>
                <a:latin typeface="Aptos"/>
              </a:rPr>
              <a:t>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1892808"/>
            <a:ext cx="22219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273A"/>
                </a:solidFill>
                <a:latin typeface="Aptos"/>
              </a:rP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8E91"/>
                </a:solidFill>
                <a:latin typeface="Aptos"/>
              </a:rPr>
              <a:t>Average Discount: 15.24%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B343F"/>
                </a:solidFill>
                <a:latin typeface="Aptos"/>
              </a:rPr>
              <a:t>The analysis covers 1,000 transactions and total sales of more than ₹5 million. Average sales per transaction were approximately ₹5,019.27.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MONTHLY SALES TREND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325880"/>
          <a:ext cx="75438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5820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7727F"/>
                </a:solidFill>
                <a:latin typeface="Aptos"/>
              </a:rPr>
              <a:t>Highest: January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920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8273A"/>
                </a:solidFill>
                <a:latin typeface="Aptos"/>
              </a:rPr>
              <a:t>₹495,420.37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7727F"/>
                </a:solidFill>
                <a:latin typeface="Aptos"/>
              </a:rPr>
              <a:t>Lowest: September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8273A"/>
                </a:solidFill>
                <a:latin typeface="Aptos"/>
              </a:rPr>
              <a:t>₹367,837.60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38912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B343F"/>
                </a:solidFill>
                <a:latin typeface="Aptos"/>
              </a:rPr>
              <a:t>Sales fluctuate over the year, with stronger results in January, October and November.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CATEGORY &amp; REGIONAL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37160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37160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806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73A"/>
                </a:solidFill>
                <a:latin typeface="Aptos"/>
              </a:rPr>
              <a:t>Highest category: Clothing — ₹1,313,474.36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806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73A"/>
                </a:solidFill>
                <a:latin typeface="Aptos"/>
              </a:rPr>
              <a:t>Highest region: North — ₹1,369,612.51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SALES REPRESENTATIVE &amp; TOP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325880"/>
          <a:ext cx="55321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72200" y="1325880"/>
          <a:ext cx="54864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852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73A"/>
                </a:solidFill>
                <a:latin typeface="Aptos"/>
              </a:rPr>
              <a:t>Top representative: David — ₹1,141,737.36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852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73A"/>
                </a:solidFill>
                <a:latin typeface="Aptos"/>
              </a:rPr>
              <a:t>Top product: 1099 — ₹101,773.87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CUSTOMER TYPE &amp; SALES CHANNEL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371600"/>
          <a:ext cx="53492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72200" y="1371600"/>
          <a:ext cx="53492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73A"/>
                </a:solidFill>
                <a:latin typeface="Aptos"/>
              </a:rPr>
              <a:t>Returning: ₹2,513,006.93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73A"/>
                </a:solidFill>
                <a:latin typeface="Aptos"/>
              </a:rPr>
              <a:t>Retail: ₹2,560,431.30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SALES PERFORMANCE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9bd4f9b0-ab34-4f87-8dc3-11f85a601e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1"/>
            <a:ext cx="10378440" cy="59435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North region recorded the highest sales, while South recorded the lowest.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Clothing was the highest-performing category, while Food had the lowest sales.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David was the top-performing sales representative, while Charlie had the lowest sales.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January recorded the highest monthly sales, while September recorded the lowest.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New and returning customers contributed almost equally to total sales.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Retail sales were slightly higher than online sales.</a:t>
            </a:r>
          </a:p>
          <a:p>
            <a:pPr>
              <a:spcAft>
                <a:spcPts val="1000"/>
              </a:spcAft>
              <a:defRPr sz="1600">
                <a:solidFill>
                  <a:srgbClr val="2B343F"/>
                </a:solidFill>
                <a:latin typeface="Aptos"/>
              </a:defRPr>
            </a:pPr>
            <a:r>
              <a:t>Product 1099 was the top-selling product in the Top 10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8E91"/>
                </a:solidFill>
                <a:latin typeface="Aptos"/>
              </a:rPr>
              <a:t>The findings provide a clear view of where sales performance is strongest and where performance can be monitored further.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273A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6576"/>
          </a:xfrm>
          <a:prstGeom prst="rect">
            <a:avLst/>
          </a:prstGeom>
          <a:solidFill>
            <a:srgbClr val="25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8273A"/>
                </a:solidFill>
                <a:latin typeface="Aptos"/>
              </a:rPr>
              <a:t>This beginner-level project provided practical experience in Excel-based data analysis and visualization.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0584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343F"/>
                </a:solidFill>
                <a:latin typeface="Aptos"/>
              </a:defRPr>
            </a:pPr>
            <a:r>
              <a:rPr dirty="0"/>
              <a:t>Prepared and validated the sales dataset.</a:t>
            </a:r>
          </a:p>
          <a:p>
            <a:pPr>
              <a:spcAft>
                <a:spcPts val="1000"/>
              </a:spcAft>
              <a:defRPr sz="1700">
                <a:solidFill>
                  <a:srgbClr val="2B343F"/>
                </a:solidFill>
                <a:latin typeface="Aptos"/>
              </a:defRPr>
            </a:pPr>
            <a:r>
              <a:rPr dirty="0"/>
              <a:t>Calculated key sales and transaction metrics.</a:t>
            </a:r>
          </a:p>
          <a:p>
            <a:pPr>
              <a:spcAft>
                <a:spcPts val="1000"/>
              </a:spcAft>
              <a:defRPr sz="1700">
                <a:solidFill>
                  <a:srgbClr val="2B343F"/>
                </a:solidFill>
                <a:latin typeface="Aptos"/>
              </a:defRPr>
            </a:pPr>
            <a:r>
              <a:rPr dirty="0"/>
              <a:t>Analyzed time, category, region, representative, product, customer and channel performance.</a:t>
            </a:r>
          </a:p>
          <a:p>
            <a:pPr>
              <a:spcAft>
                <a:spcPts val="1000"/>
              </a:spcAft>
              <a:defRPr sz="1700">
                <a:solidFill>
                  <a:srgbClr val="2B343F"/>
                </a:solidFill>
                <a:latin typeface="Aptos"/>
              </a:defRPr>
            </a:pPr>
            <a:r>
              <a:rPr dirty="0"/>
              <a:t>Created charts and a consolidated dashboard.</a:t>
            </a:r>
          </a:p>
          <a:p>
            <a:pPr>
              <a:spcAft>
                <a:spcPts val="1000"/>
              </a:spcAft>
              <a:defRPr sz="1700">
                <a:solidFill>
                  <a:srgbClr val="2B343F"/>
                </a:solidFill>
                <a:latin typeface="Aptos"/>
              </a:defRPr>
            </a:pPr>
            <a:r>
              <a:rPr dirty="0"/>
              <a:t>Converted analysis results into concise business insights.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7727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58E91"/>
                </a:solidFill>
                <a:latin typeface="Aptos"/>
              </a:rPr>
              <a:t>SALES ANALYSIS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70332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DDCE8"/>
                </a:solidFill>
                <a:latin typeface="Aptos"/>
              </a:rPr>
              <a:t>ARYA SINHA • DATA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25196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C6D6"/>
                </a:solidFill>
                <a:latin typeface="Aptos"/>
              </a:rPr>
              <a:t>ShadowFox Internship • Beginner Level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634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 y</cp:lastModifiedBy>
  <cp:revision>2</cp:revision>
  <dcterms:created xsi:type="dcterms:W3CDTF">2013-01-27T09:14:16Z</dcterms:created>
  <dcterms:modified xsi:type="dcterms:W3CDTF">2026-09-02T06:21:09Z</dcterms:modified>
  <cp:category/>
</cp:coreProperties>
</file>